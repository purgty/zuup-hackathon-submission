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ZUUP: Autonomous Public Transport AI</a:t>
            </a:r>
          </a:p>
        </p:txBody>
      </p:sp>
      <p:sp>
        <p:nvSpPr>
          <p:cNvPr id="3" name="Subtitle 2"/>
          <p:cNvSpPr>
            <a:spLocks noGrp="1"/>
          </p:cNvSpPr>
          <p:nvPr>
            <p:ph type="subTitle" idx="1"/>
          </p:nvPr>
        </p:nvSpPr>
        <p:spPr/>
        <p:txBody>
          <a:bodyPr/>
          <a:lstStyle/>
          <a:p>
            <a:r>
              <a:t>Solving the Rigid Transport Problem with Dynamic Rerouting</a:t>
            </a:r>
          </a:p>
          <a:p>
            <a:r>
              <a:t>Hackathon Submission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Problem</a:t>
            </a:r>
          </a:p>
        </p:txBody>
      </p:sp>
      <p:sp>
        <p:nvSpPr>
          <p:cNvPr id="3" name="Content Placeholder 2"/>
          <p:cNvSpPr>
            <a:spLocks noGrp="1"/>
          </p:cNvSpPr>
          <p:nvPr>
            <p:ph idx="1"/>
          </p:nvPr>
        </p:nvSpPr>
        <p:spPr/>
        <p:txBody>
          <a:bodyPr/>
          <a:lstStyle/>
          <a:p/>
          <a:p>
            <a:pPr>
              <a:spcAft>
                <a:spcPts val="1000"/>
              </a:spcAft>
              <a:defRPr sz="1600"/>
            </a:pPr>
            <a:r>
              <a:t>Public transit networks globally are plagued by rigid, static scheduling:</a:t>
            </a:r>
          </a:p>
          <a:p>
            <a:pPr>
              <a:spcAft>
                <a:spcPts val="1000"/>
              </a:spcAft>
              <a:defRPr sz="1600"/>
            </a:pPr>
            <a:r>
              <a:t>"Empty Miles": Buses running fixed routes during off-peak hours with zero passengers, wasting fuel and increasing emissions.</a:t>
            </a:r>
          </a:p>
          <a:p>
            <a:pPr>
              <a:spcAft>
                <a:spcPts val="1000"/>
              </a:spcAft>
              <a:defRPr sz="1600"/>
            </a:pPr>
            <a:r>
              <a:t>Stranded Passengers: Sudden, unpredictable demand surges (e.g., flash rain, event endings) leaving massive crowds waiting at stops while buses on other routes drive by empty.</a:t>
            </a:r>
          </a:p>
          <a:p>
            <a:pPr>
              <a:spcAft>
                <a:spcPts val="1000"/>
              </a:spcAft>
              <a:defRPr sz="1600"/>
            </a:pPr>
            <a:r>
              <a:t>Blind Dispatching: Human dispatchers lack real-time visibility and predictive tools to dynamically reallocate fleet resources.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Solution: ZUUP</a:t>
            </a:r>
          </a:p>
        </p:txBody>
      </p:sp>
      <p:sp>
        <p:nvSpPr>
          <p:cNvPr id="3" name="Content Placeholder 2"/>
          <p:cNvSpPr>
            <a:spLocks noGrp="1"/>
          </p:cNvSpPr>
          <p:nvPr>
            <p:ph idx="1"/>
          </p:nvPr>
        </p:nvSpPr>
        <p:spPr/>
        <p:txBody>
          <a:bodyPr/>
          <a:lstStyle/>
          <a:p/>
          <a:p>
            <a:pPr>
              <a:spcAft>
                <a:spcPts val="1000"/>
              </a:spcAft>
              <a:defRPr sz="1600"/>
            </a:pPr>
            <a:r>
              <a:t>ZUUP is an AI-powered Demand-Responsive Transit (DRT) platform that turns a rigid bus network into a fluid, living system.</a:t>
            </a:r>
          </a:p>
          <a:p>
            <a:pPr>
              <a:spcAft>
                <a:spcPts val="1000"/>
              </a:spcAft>
              <a:defRPr sz="1600"/>
            </a:pPr>
            <a:r>
              <a:t>Dynamic Reallocation: Automatically shifts buses to where they are needed most in real-time.</a:t>
            </a:r>
          </a:p>
          <a:p>
            <a:pPr>
              <a:spcAft>
                <a:spcPts val="1000"/>
              </a:spcAft>
              <a:defRPr sz="1600"/>
            </a:pPr>
            <a:r>
              <a:t>Proactive rather than Reactive: Aggregates live QR check-ins and predicts crowd surges before a stop becomes critically overloaded.</a:t>
            </a:r>
          </a:p>
          <a:p>
            <a:pPr>
              <a:spcAft>
                <a:spcPts val="1000"/>
              </a:spcAft>
              <a:defRPr sz="1600"/>
            </a:pPr>
            <a:r>
              <a:t>De-abstracted Dashboard: Provides municipal operators with a transparent, highly visual command centre to oversee automated fleet movements.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Slide 2: Core Algorithms &amp; The AI Engine</a:t>
            </a:r>
          </a:p>
        </p:txBody>
      </p:sp>
      <p:sp>
        <p:nvSpPr>
          <p:cNvPr id="3" name="Content Placeholder 2"/>
          <p:cNvSpPr>
            <a:spLocks noGrp="1"/>
          </p:cNvSpPr>
          <p:nvPr>
            <p:ph idx="1"/>
          </p:nvPr>
        </p:nvSpPr>
        <p:spPr/>
        <p:txBody>
          <a:bodyPr/>
          <a:lstStyle/>
          <a:p/>
          <a:p>
            <a:pPr>
              <a:spcAft>
                <a:spcPts val="1000"/>
              </a:spcAft>
              <a:defRPr sz="1600"/>
            </a:pPr>
            <a:r>
              <a:t>At the heart of ZUUP is the Route Intelligence Service, powered by a suite of algorithms designed to balance supply and demand without stranding passengers.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Unified Demand Aggregation</a:t>
            </a:r>
          </a:p>
        </p:txBody>
      </p:sp>
      <p:sp>
        <p:nvSpPr>
          <p:cNvPr id="3" name="Content Placeholder 2"/>
          <p:cNvSpPr>
            <a:spLocks noGrp="1"/>
          </p:cNvSpPr>
          <p:nvPr>
            <p:ph idx="1"/>
          </p:nvPr>
        </p:nvSpPr>
        <p:spPr/>
        <p:txBody>
          <a:bodyPr/>
          <a:lstStyle/>
          <a:p/>
          <a:p>
            <a:pPr>
              <a:spcAft>
                <a:spcPts val="1000"/>
              </a:spcAft>
              <a:defRPr sz="1600"/>
            </a:pPr>
            <a:r>
              <a:t>The algorithm doesn't just guess demand. It calculates a precise `Total Demand` metric:</a:t>
            </a:r>
          </a:p>
          <a:p>
            <a:pPr>
              <a:spcAft>
                <a:spcPts val="1000"/>
              </a:spcAft>
              <a:defRPr sz="1600"/>
            </a:pPr>
            <a:r>
              <a:t>Formula: `Scheduled Baseline Demand + Live QR Check-ins + Latent Predictions = Total Demand`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The 4-Step Reroute Hierarchy</a:t>
            </a:r>
          </a:p>
        </p:txBody>
      </p:sp>
      <p:sp>
        <p:nvSpPr>
          <p:cNvPr id="3" name="Content Placeholder 2"/>
          <p:cNvSpPr>
            <a:spLocks noGrp="1"/>
          </p:cNvSpPr>
          <p:nvPr>
            <p:ph idx="1"/>
          </p:nvPr>
        </p:nvSpPr>
        <p:spPr/>
        <p:txBody>
          <a:bodyPr/>
          <a:lstStyle/>
          <a:p/>
          <a:p>
            <a:pPr>
              <a:spcAft>
                <a:spcPts val="1000"/>
              </a:spcAft>
              <a:defRPr sz="1600"/>
            </a:pPr>
            <a:r>
              <a:t>When a surge outpaces capacity, the engine doesn't just blindly send a bus. It evaluates interventions from least to most disruptive:</a:t>
            </a:r>
          </a:p>
          <a:p>
            <a:pPr>
              <a:spcAft>
                <a:spcPts val="1000"/>
              </a:spcAft>
              <a:defRPr sz="1600"/>
            </a:pPr>
            <a:r>
              <a:t>1. Holding (Headway Adjustment): Delay a preceding bus to absorb the upcoming crowd.</a:t>
            </a:r>
          </a:p>
          <a:p>
            <a:pPr>
              <a:spcAft>
                <a:spcPts val="1000"/>
              </a:spcAft>
              <a:defRPr sz="1600"/>
            </a:pPr>
            <a:r>
              <a:t>2. Skip-Stop Express: A full bus skips non-essential stops to quickly cycle back to the surge.</a:t>
            </a:r>
          </a:p>
          <a:p>
            <a:pPr>
              <a:spcAft>
                <a:spcPts val="1000"/>
              </a:spcAft>
              <a:defRPr sz="1600"/>
            </a:pPr>
            <a:r>
              <a:t>3. Short-Turn: A bus near the terminus (empty) U-turns instantly to become an inbound express.</a:t>
            </a:r>
          </a:p>
          <a:p>
            <a:pPr>
              <a:spcAft>
                <a:spcPts val="1000"/>
              </a:spcAft>
              <a:defRPr sz="1600"/>
            </a:pPr>
            <a:r>
              <a:t>4. Express Overlay (Reserve Deployment): Dispatching a dedicated reserve bus from the depot.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Nearest-Terminus Travel Cost Algorithm</a:t>
            </a:r>
          </a:p>
        </p:txBody>
      </p:sp>
      <p:sp>
        <p:nvSpPr>
          <p:cNvPr id="3" name="Content Placeholder 2"/>
          <p:cNvSpPr>
            <a:spLocks noGrp="1"/>
          </p:cNvSpPr>
          <p:nvPr>
            <p:ph idx="1"/>
          </p:nvPr>
        </p:nvSpPr>
        <p:spPr/>
        <p:txBody>
          <a:bodyPr/>
          <a:lstStyle/>
          <a:p/>
          <a:p>
            <a:pPr>
              <a:spcAft>
                <a:spcPts val="1000"/>
              </a:spcAft>
              <a:defRPr sz="1600"/>
            </a:pPr>
            <a:r>
              <a:t>If Step 4 (Reserve Deployment) is triggered, the engine calculates the geographical "fractional distance" of the surge stop. It then mathematically selects the reserve bus physically located at the closest terminus (Start or End) rather than arbitrarily dispatching from a central depot.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Strict Service Guarantees</a:t>
            </a:r>
          </a:p>
        </p:txBody>
      </p:sp>
      <p:sp>
        <p:nvSpPr>
          <p:cNvPr id="3" name="Content Placeholder 2"/>
          <p:cNvSpPr>
            <a:spLocks noGrp="1"/>
          </p:cNvSpPr>
          <p:nvPr>
            <p:ph idx="1"/>
          </p:nvPr>
        </p:nvSpPr>
        <p:spPr/>
        <p:txBody>
          <a:bodyPr/>
          <a:lstStyle/>
          <a:p/>
          <a:p>
            <a:pPr>
              <a:spcAft>
                <a:spcPts val="1000"/>
              </a:spcAft>
              <a:defRPr sz="1600"/>
            </a:pPr>
            <a:r>
              <a:t>Before "stealing" a bus from one route to help another, the system runs a constraint check. It simulates the future state of the original route. If stealing the bus causes the remaining stops to violate `maxWaitMinutes` or `minBusesInService` thresholds, the system rejects the theft and deploys a reserve bus instead.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Slide 3: Resilience &amp; Handling "Real World Chaos"</a:t>
            </a:r>
          </a:p>
        </p:txBody>
      </p:sp>
      <p:sp>
        <p:nvSpPr>
          <p:cNvPr id="3" name="Content Placeholder 2"/>
          <p:cNvSpPr>
            <a:spLocks noGrp="1"/>
          </p:cNvSpPr>
          <p:nvPr>
            <p:ph idx="1"/>
          </p:nvPr>
        </p:nvSpPr>
        <p:spPr/>
        <p:txBody>
          <a:bodyPr/>
          <a:lstStyle/>
          <a:p/>
          <a:p>
            <a:pPr>
              <a:spcAft>
                <a:spcPts val="1000"/>
              </a:spcAft>
              <a:defRPr sz="1600"/>
            </a:pPr>
            <a:r>
              <a:t>Real-world transit is messy. ZUUP is built with advanced edge-case handling to ensure the AI doesn't break down when human unpredictability strikes.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The "Phantom" Check-In (QR Abandonment)</a:t>
            </a:r>
          </a:p>
        </p:txBody>
      </p:sp>
      <p:sp>
        <p:nvSpPr>
          <p:cNvPr id="3" name="Content Placeholder 2"/>
          <p:cNvSpPr>
            <a:spLocks noGrp="1"/>
          </p:cNvSpPr>
          <p:nvPr>
            <p:ph idx="1"/>
          </p:nvPr>
        </p:nvSpPr>
        <p:spPr/>
        <p:txBody>
          <a:bodyPr/>
          <a:lstStyle/>
          <a:p/>
          <a:p>
            <a:pPr>
              <a:spcAft>
                <a:spcPts val="1000"/>
              </a:spcAft>
              <a:defRPr sz="1600"/>
            </a:pPr>
            <a:r>
              <a:t>Scenario: A passenger scans the QR check-in but then takes a cab or walks away.</a:t>
            </a:r>
          </a:p>
          <a:p>
            <a:pPr>
              <a:spcAft>
                <a:spcPts val="1000"/>
              </a:spcAft>
              <a:defRPr sz="1600"/>
            </a:pPr>
            <a:r>
              <a:t>Solution: The `CheckInLifecycleManager` uses a Time-to-Live (TTL) decay and bus correlation sweeps. If two buses pass the stop and the passenger hasn't boarded, the system marks the check-in as `ABANDONED` and immediately subtracts the "ghost" demand from the AI engine.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Evaporating Demand (Mid-Reroute Cancellations)</a:t>
            </a:r>
          </a:p>
        </p:txBody>
      </p:sp>
      <p:sp>
        <p:nvSpPr>
          <p:cNvPr id="3" name="Content Placeholder 2"/>
          <p:cNvSpPr>
            <a:spLocks noGrp="1"/>
          </p:cNvSpPr>
          <p:nvPr>
            <p:ph idx="1"/>
          </p:nvPr>
        </p:nvSpPr>
        <p:spPr/>
        <p:txBody>
          <a:bodyPr/>
          <a:lstStyle/>
          <a:p/>
          <a:p>
            <a:pPr>
              <a:spcAft>
                <a:spcPts val="1000"/>
              </a:spcAft>
              <a:defRPr sz="1600"/>
            </a:pPr>
            <a:r>
              <a:t>Scenario: A reserve bus is deployed for a massive crowd, but the crowd dissipates (e.g. people walk) before the bus arrives.</a:t>
            </a:r>
          </a:p>
          <a:p>
            <a:pPr>
              <a:spcAft>
                <a:spcPts val="1000"/>
              </a:spcAft>
              <a:defRPr sz="1600"/>
            </a:pPr>
            <a:r>
              <a:t>Solution: Continuous Evaluation. Reroutes are not "fire-and-forget". The engine re-evaluates active reroutes every 30 seconds. If demand falls below capacity, the system triggers a `RETURN_TO_ROUTE` override, instantly recalling the bus to the depot to save fuel.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The Orphaned Passengers (Cross-Route Chaos)</a:t>
            </a:r>
          </a:p>
        </p:txBody>
      </p:sp>
      <p:sp>
        <p:nvSpPr>
          <p:cNvPr id="3" name="Content Placeholder 2"/>
          <p:cNvSpPr>
            <a:spLocks noGrp="1"/>
          </p:cNvSpPr>
          <p:nvPr>
            <p:ph idx="1"/>
          </p:nvPr>
        </p:nvSpPr>
        <p:spPr/>
        <p:txBody>
          <a:bodyPr/>
          <a:lstStyle/>
          <a:p/>
          <a:p>
            <a:pPr>
              <a:spcAft>
                <a:spcPts val="1000"/>
              </a:spcAft>
              <a:defRPr sz="1600"/>
            </a:pPr>
            <a:r>
              <a:t>Scenario: Bus A is rerouted to help Route B. But a connecting bus drops off new passengers at Route A's remaining stops. Because Bus A was stolen, these new passengers are stranded.</a:t>
            </a:r>
          </a:p>
          <a:p>
            <a:pPr>
              <a:spcAft>
                <a:spcPts val="1000"/>
              </a:spcAft>
              <a:defRPr sz="1600"/>
            </a:pPr>
            <a:r>
              <a:t>Solution: Solved directly by the Service Guarantee Constraints. The engine simulates the drop-offs. If stealing Bus A strands new passengers, the cross-route allocation is completely rejected, and a dedicated Reserve Fleet bus is deployed to Route B instead. Core routes are never cannibalised.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Complete Reserve Fleet Exhaustion (The "Doomsday" Scenario)</a:t>
            </a:r>
          </a:p>
        </p:txBody>
      </p:sp>
      <p:sp>
        <p:nvSpPr>
          <p:cNvPr id="3" name="Content Placeholder 2"/>
          <p:cNvSpPr>
            <a:spLocks noGrp="1"/>
          </p:cNvSpPr>
          <p:nvPr>
            <p:ph idx="1"/>
          </p:nvPr>
        </p:nvSpPr>
        <p:spPr/>
        <p:txBody>
          <a:bodyPr/>
          <a:lstStyle/>
          <a:p/>
          <a:p>
            <a:pPr>
              <a:spcAft>
                <a:spcPts val="1000"/>
              </a:spcAft>
              <a:defRPr sz="1600"/>
            </a:pPr>
            <a:r>
              <a:t>Scenario: A massive event occurs and absolutely all reserve buses across the entire system are already deployed or broken down.</a:t>
            </a:r>
          </a:p>
          <a:p>
            <a:pPr>
              <a:spcAft>
                <a:spcPts val="1000"/>
              </a:spcAft>
              <a:defRPr sz="1600"/>
            </a:pPr>
            <a:r>
              <a:t>Solution: The system gracefully bypasses the standard Reserve Overlay tier and falls back to Cross-Route Reallocation. The AI scans every single active service bus in the city, ranks them based on current occupancy, ETA to the surge, and the impact of stealing them, and automatically re-routes the optimal, least-crowded service bus from a quiet route to save the surging route.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Slide 4: Tech Stack &amp; Real-Time Scalability</a:t>
            </a:r>
          </a:p>
        </p:txBody>
      </p:sp>
      <p:sp>
        <p:nvSpPr>
          <p:cNvPr id="3" name="Content Placeholder 2"/>
          <p:cNvSpPr>
            <a:spLocks noGrp="1"/>
          </p:cNvSpPr>
          <p:nvPr>
            <p:ph idx="1"/>
          </p:nvPr>
        </p:nvSpPr>
        <p:spPr/>
        <p:txBody>
          <a:bodyPr/>
          <a:lstStyle/>
          <a:p/>
          <a:p>
            <a:pPr>
              <a:spcAft>
                <a:spcPts val="1000"/>
              </a:spcAft>
              <a:defRPr sz="1600"/>
            </a:pPr>
            <a:r>
              <a:t>ZUUP is engineered as a highly scalable, event-driven distributed system designed to handle the throughput of a massive modern city fleet.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Frontend (The Operator Dashboard)</a:t>
            </a:r>
          </a:p>
        </p:txBody>
      </p:sp>
      <p:sp>
        <p:nvSpPr>
          <p:cNvPr id="3" name="Content Placeholder 2"/>
          <p:cNvSpPr>
            <a:spLocks noGrp="1"/>
          </p:cNvSpPr>
          <p:nvPr>
            <p:ph idx="1"/>
          </p:nvPr>
        </p:nvSpPr>
        <p:spPr/>
        <p:txBody>
          <a:bodyPr/>
          <a:lstStyle/>
          <a:p/>
          <a:p>
            <a:pPr>
              <a:spcAft>
                <a:spcPts val="1000"/>
              </a:spcAft>
              <a:defRPr sz="1600"/>
            </a:pPr>
            <a:r>
              <a:t>React + TypeScript: For a robust, type-safe UI architecture.</a:t>
            </a:r>
          </a:p>
          <a:p>
            <a:pPr>
              <a:spcAft>
                <a:spcPts val="1000"/>
              </a:spcAft>
              <a:defRPr sz="1600"/>
            </a:pPr>
            <a:r>
              <a:t>MapLibre GL / Mapbox: High-performance WebGL rendering. Capable of smoothly animating thousands of fleet vehicles, dynamic flow arrows, and real-time geographical dash-arrays at a locked 60 FPS.</a:t>
            </a:r>
          </a:p>
          <a:p>
            <a:pPr>
              <a:spcAft>
                <a:spcPts val="1000"/>
              </a:spcAft>
              <a:defRPr sz="1600"/>
            </a:pPr>
            <a:r>
              <a:t>De-Abstracted UI: Designed for transparency. Hovering over stops exposes the literal mathematical equations the AI is using, building trust with human operators.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Backend (The Intelligence Engine)</a:t>
            </a:r>
          </a:p>
        </p:txBody>
      </p:sp>
      <p:sp>
        <p:nvSpPr>
          <p:cNvPr id="3" name="Content Placeholder 2"/>
          <p:cNvSpPr>
            <a:spLocks noGrp="1"/>
          </p:cNvSpPr>
          <p:nvPr>
            <p:ph idx="1"/>
          </p:nvPr>
        </p:nvSpPr>
        <p:spPr/>
        <p:txBody>
          <a:bodyPr/>
          <a:lstStyle/>
          <a:p/>
          <a:p>
            <a:pPr>
              <a:spcAft>
                <a:spcPts val="1000"/>
              </a:spcAft>
              <a:defRPr sz="1600"/>
            </a:pPr>
            <a:r>
              <a:t>Node.js + Express: Handles high-concurrency API requests.</a:t>
            </a:r>
          </a:p>
          <a:p>
            <a:pPr>
              <a:spcAft>
                <a:spcPts val="1000"/>
              </a:spcAft>
              <a:defRPr sz="1600"/>
            </a:pPr>
            <a:r>
              <a:t>WebSocket Synchronization: Pushes continuous 60Hz coordinate updates and state changes to connected dashboards globally without polling.</a:t>
            </a:r>
          </a:p>
          <a:p>
            <a:pPr>
              <a:spcAft>
                <a:spcPts val="1000"/>
              </a:spcAft>
              <a:defRPr sz="1600"/>
            </a:pPr>
            <a:r>
              <a:t>In-Memory State Store / Redis: The core algorithmic engine runs entirely in memory. It uses structural references rather than database lookups for routing decisions, resulting in sub-millisecond calculation times. Ready to map to a high-throughput Redis cluster in production.</a:t>
            </a:r>
          </a:p>
          <a:p>
            <a:pPr>
              <a:spcAft>
                <a:spcPts val="1000"/>
              </a:spcAft>
              <a:defRPr sz="1600"/>
            </a:pPr>
            <a:r>
              <a:t>Decoupled OSRM Geospatial Engine: Physical road routing and snapping are handled by a dedicated OSRM instance, entirely decoupled from the internal business logic graph.</a:t>
            </a:r>
          </a:p>
          <a:p>
            <a:pPr>
              <a:spcAft>
                <a:spcPts val="1000"/>
              </a:spcAft>
              <a:defRPr sz="1600"/>
            </a:pPr>
            <a:r>
              <a:t>Event-Driven Architecture (Pub/Sub): Components like the `CheckInLifecycleManager`, `Notification Engine`, and `RouteIntelligenceService` react asynchronously to a central EventBus (like Kafka), ensuring zero blocking during massive demand spikes.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Target Market</a:t>
            </a:r>
          </a:p>
        </p:txBody>
      </p:sp>
      <p:sp>
        <p:nvSpPr>
          <p:cNvPr id="3" name="Content Placeholder 2"/>
          <p:cNvSpPr>
            <a:spLocks noGrp="1"/>
          </p:cNvSpPr>
          <p:nvPr>
            <p:ph idx="1"/>
          </p:nvPr>
        </p:nvSpPr>
        <p:spPr/>
        <p:txBody>
          <a:bodyPr/>
          <a:lstStyle/>
          <a:p/>
          <a:p>
            <a:pPr>
              <a:spcAft>
                <a:spcPts val="1000"/>
              </a:spcAft>
              <a:defRPr sz="1600"/>
            </a:pPr>
            <a:r>
              <a:t>1. B2G (Business-to-Government): Municipalities and city transport authorities looking to modernize public infrastructure.</a:t>
            </a:r>
          </a:p>
          <a:p>
            <a:pPr>
              <a:spcAft>
                <a:spcPts val="1000"/>
              </a:spcAft>
              <a:defRPr sz="1600"/>
            </a:pPr>
            <a:r>
              <a:t>2. B2B (Private Fleet Operators): Private shuttle networks, corporate transport fleets, and university campus transit.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Value Proposition (ROI)</a:t>
            </a:r>
          </a:p>
        </p:txBody>
      </p:sp>
      <p:sp>
        <p:nvSpPr>
          <p:cNvPr id="3" name="Content Placeholder 2"/>
          <p:cNvSpPr>
            <a:spLocks noGrp="1"/>
          </p:cNvSpPr>
          <p:nvPr>
            <p:ph idx="1"/>
          </p:nvPr>
        </p:nvSpPr>
        <p:spPr/>
        <p:txBody>
          <a:bodyPr/>
          <a:lstStyle/>
          <a:p/>
          <a:p>
            <a:pPr>
              <a:spcAft>
                <a:spcPts val="1000"/>
              </a:spcAft>
              <a:defRPr sz="1600"/>
            </a:pPr>
            <a:r>
              <a:t>Slash Operational Costs: Drastically reduces "empty miles" driven by buses on dead routes, saving significant fuel and maintenance costs.</a:t>
            </a:r>
          </a:p>
          <a:p>
            <a:pPr>
              <a:spcAft>
                <a:spcPts val="1000"/>
              </a:spcAft>
              <a:defRPr sz="1600"/>
            </a:pPr>
            <a:r>
              <a:t>Automated Dispatching: Replaces the need for manual, stressed human dispatchers with a scalable, predictive AI engine.</a:t>
            </a:r>
          </a:p>
          <a:p>
            <a:pPr>
              <a:spcAft>
                <a:spcPts val="1000"/>
              </a:spcAft>
              <a:defRPr sz="1600"/>
            </a:pPr>
            <a:r>
              <a:t>Increased Ridership &amp; Revenue: By guaranteeing buses are actually where the people are, passenger trust in the network skyrockets, converting car-drivers back into public transit riders.</a:t>
            </a:r>
          </a:p>
          <a:p>
            <a:pPr>
              <a:spcAft>
                <a:spcPts val="1000"/>
              </a:spcAft>
              <a:defRPr sz="1600"/>
            </a:pPr>
            <a:r>
              <a:t>Sustainability: Fewer empty diesel buses idling in traffic means a massive reduction in the city's carbon footprint.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Future Road Map</a:t>
            </a:r>
          </a:p>
        </p:txBody>
      </p:sp>
      <p:sp>
        <p:nvSpPr>
          <p:cNvPr id="3" name="Content Placeholder 2"/>
          <p:cNvSpPr>
            <a:spLocks noGrp="1"/>
          </p:cNvSpPr>
          <p:nvPr>
            <p:ph idx="1"/>
          </p:nvPr>
        </p:nvSpPr>
        <p:spPr/>
        <p:txBody>
          <a:bodyPr/>
          <a:lstStyle/>
          <a:p/>
          <a:p>
            <a:pPr>
              <a:spcAft>
                <a:spcPts val="1000"/>
              </a:spcAft>
              <a:defRPr sz="1600"/>
            </a:pPr>
            <a:r>
              <a:t>Integration with smart city IoT cameras to measure crowd density without requiring QR scans.</a:t>
            </a:r>
          </a:p>
          <a:p>
            <a:pPr>
              <a:spcAft>
                <a:spcPts val="1000"/>
              </a:spcAft>
              <a:defRPr sz="1600"/>
            </a:pPr>
            <a:r>
              <a:t>Passenger-facing mobile app for dynamic ETAs based on reroute calculations.</a:t>
            </a:r>
          </a:p>
          <a:p>
            <a:pPr>
              <a:spcAft>
                <a:spcPts val="1000"/>
              </a:spcAft>
              <a:defRPr sz="1600"/>
            </a:pPr>
            <a:r>
              <a:t>Machine Learning models trained on historical city data for week-ahead predictive fleet positioning.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ZUUP Simulation Scenarios: Deep-Dive Analysis</a:t>
            </a:r>
          </a:p>
        </p:txBody>
      </p:sp>
      <p:sp>
        <p:nvSpPr>
          <p:cNvPr id="3" name="Content Placeholder 2"/>
          <p:cNvSpPr>
            <a:spLocks noGrp="1"/>
          </p:cNvSpPr>
          <p:nvPr>
            <p:ph idx="1"/>
          </p:nvPr>
        </p:nvSpPr>
        <p:spPr/>
        <p:txBody>
          <a:bodyPr/>
          <a:lstStyle/>
          <a:p/>
          <a:p>
            <a:pPr>
              <a:spcAft>
                <a:spcPts val="1000"/>
              </a:spcAft>
              <a:defRPr sz="1600"/>
            </a:pPr>
            <a:r>
              <a:t>This document provides a highly technical, research-grade analysis of the ZUUP autonomous routing algorithm's behaviour during various edge cases. It breaks down the mathematical decision-making framework utilised by the engine during live demo scenarios.</a:t>
            </a:r>
          </a:p>
          <a:p>
            <a:pPr>
              <a:spcAft>
                <a:spcPts val="1000"/>
              </a:spcAft>
              <a:defRPr sz="1600"/>
            </a:pPr>
            <a:r>
              <a: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Surge at Route End (The Fractional Cost Optimisation)</a:t>
            </a:r>
          </a:p>
        </p:txBody>
      </p:sp>
      <p:sp>
        <p:nvSpPr>
          <p:cNvPr id="3" name="Content Placeholder 2"/>
          <p:cNvSpPr>
            <a:spLocks noGrp="1"/>
          </p:cNvSpPr>
          <p:nvPr>
            <p:ph idx="1"/>
          </p:nvPr>
        </p:nvSpPr>
        <p:spPr/>
        <p:txBody>
          <a:bodyPr/>
          <a:lstStyle/>
          <a:p/>
          <a:p>
            <a:pPr>
              <a:spcAft>
                <a:spcPts val="1000"/>
              </a:spcAft>
              <a:defRPr sz="1600"/>
            </a:pPr>
            <a:r>
              <a:t>Scenario Triggered: 40 passengers injected at Dairy Circle (The final stop on Route 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Algorithmic Breakdown:</a:t>
            </a:r>
          </a:p>
        </p:txBody>
      </p:sp>
      <p:sp>
        <p:nvSpPr>
          <p:cNvPr id="3" name="Content Placeholder 2"/>
          <p:cNvSpPr>
            <a:spLocks noGrp="1"/>
          </p:cNvSpPr>
          <p:nvPr>
            <p:ph idx="1"/>
          </p:nvPr>
        </p:nvSpPr>
        <p:spPr/>
        <p:txBody>
          <a:bodyPr/>
          <a:lstStyle/>
          <a:p/>
          <a:p>
            <a:pPr>
              <a:spcAft>
                <a:spcPts val="1000"/>
              </a:spcAft>
              <a:defRPr sz="1600"/>
            </a:pPr>
            <a:r>
              <a:t>When a surge is detected, naive public transit systems dispatch a reserve bus from a central depot. ZUUP, however, employs a Geographic Fractional Distance Algorithm (`findClosestReserveForSurge`).</a:t>
            </a:r>
          </a:p>
          <a:p>
            <a:pPr>
              <a:spcAft>
                <a:spcPts val="1000"/>
              </a:spcAft>
              <a:defRPr sz="1600"/>
            </a:pPr>
            <a:r>
              <a:t>1. Fraction Calculation: The engine maps the surge stop's index over the total route length.</a:t>
            </a:r>
          </a:p>
          <a:p>
            <a:pPr>
              <a:spcAft>
                <a:spcPts val="1000"/>
              </a:spcAft>
              <a:defRPr sz="1600"/>
            </a:pPr>
            <a:r>
              <a:t>MG Road (Start) = Fraction `0.0`</a:t>
            </a:r>
          </a:p>
          <a:p>
            <a:pPr>
              <a:spcAft>
                <a:spcPts val="1000"/>
              </a:spcAft>
              <a:defRPr sz="1600"/>
            </a:pPr>
            <a:r>
              <a:t>Dairy Circle (End) = Fraction `1.0`</a:t>
            </a:r>
          </a:p>
          <a:p>
            <a:pPr>
              <a:spcAft>
                <a:spcPts val="1000"/>
              </a:spcAft>
              <a:defRPr sz="1600"/>
            </a:pPr>
            <a:r>
              <a:t>2. The Cost Function: The engine calculates the Travel Cost (wasted distance an empty bus must drive to reach the crowd) from all available terminuses.</a:t>
            </a:r>
          </a:p>
          <a:p>
            <a:pPr>
              <a:spcAft>
                <a:spcPts val="1000"/>
              </a:spcAft>
              <a:defRPr sz="1600"/>
            </a:pPr>
            <a:r>
              <a:t>`Cost from Start Terminus` = $|1.0 - 0.0| = 1.0$</a:t>
            </a:r>
          </a:p>
          <a:p>
            <a:pPr>
              <a:spcAft>
                <a:spcPts val="1000"/>
              </a:spcAft>
              <a:defRPr sz="1600"/>
            </a:pPr>
            <a:r>
              <a:t>`Cost from End Terminus` = $|1.0 - 1.0| = 0.0$</a:t>
            </a:r>
          </a:p>
          <a:p>
            <a:pPr>
              <a:spcAft>
                <a:spcPts val="1000"/>
              </a:spcAft>
              <a:defRPr sz="1600"/>
            </a:pPr>
            <a:r>
              <a:t>3. Decision &amp; Action: The algorithm mathematically proves that deploying from the end of the route is vastly superior. It activates reserve bus KA-01-A-RSV-B stationed at the End Terminus (Dairy Circle) with a perfect Travel Cost of `0.00`. The bus drops into the active route directly at the point of failure.</a:t>
            </a:r>
          </a:p>
          <a:p>
            <a:pPr>
              <a:spcAft>
                <a:spcPts val="1000"/>
              </a:spcAft>
              <a:defRPr sz="1600"/>
            </a:pPr>
            <a:r>
              <a: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Surge at Route Start</a:t>
            </a:r>
          </a:p>
        </p:txBody>
      </p:sp>
      <p:sp>
        <p:nvSpPr>
          <p:cNvPr id="3" name="Content Placeholder 2"/>
          <p:cNvSpPr>
            <a:spLocks noGrp="1"/>
          </p:cNvSpPr>
          <p:nvPr>
            <p:ph idx="1"/>
          </p:nvPr>
        </p:nvSpPr>
        <p:spPr/>
        <p:txBody>
          <a:bodyPr/>
          <a:lstStyle/>
          <a:p/>
          <a:p>
            <a:pPr>
              <a:spcAft>
                <a:spcPts val="1000"/>
              </a:spcAft>
              <a:defRPr sz="1600"/>
            </a:pPr>
            <a:r>
              <a:t>Scenario Triggered: 40 passengers injected at MG Road (The first stop on Route 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Algorithmic Breakdown:</a:t>
            </a:r>
          </a:p>
        </p:txBody>
      </p:sp>
      <p:sp>
        <p:nvSpPr>
          <p:cNvPr id="3" name="Content Placeholder 2"/>
          <p:cNvSpPr>
            <a:spLocks noGrp="1"/>
          </p:cNvSpPr>
          <p:nvPr>
            <p:ph idx="1"/>
          </p:nvPr>
        </p:nvSpPr>
        <p:spPr/>
        <p:txBody>
          <a:bodyPr/>
          <a:lstStyle/>
          <a:p/>
          <a:p>
            <a:pPr>
              <a:spcAft>
                <a:spcPts val="1000"/>
              </a:spcAft>
              <a:defRPr sz="1600"/>
            </a:pPr>
            <a:r>
              <a:t>Following the same Cost Function logic, the engine computes the optimal deployment vector for a surge at the absolute beginning of the route.</a:t>
            </a:r>
          </a:p>
          <a:p>
            <a:pPr>
              <a:spcAft>
                <a:spcPts val="1000"/>
              </a:spcAft>
              <a:defRPr sz="1600"/>
            </a:pPr>
            <a:r>
              <a:t>1. Fraction Calculation: MG Road is index 0.</a:t>
            </a:r>
          </a:p>
          <a:p>
            <a:pPr>
              <a:spcAft>
                <a:spcPts val="1000"/>
              </a:spcAft>
              <a:defRPr sz="1600"/>
            </a:pPr>
            <a:r>
              <a:t>Fraction = `0.0`</a:t>
            </a:r>
          </a:p>
          <a:p>
            <a:pPr>
              <a:spcAft>
                <a:spcPts val="1000"/>
              </a:spcAft>
              <a:defRPr sz="1600"/>
            </a:pPr>
            <a:r>
              <a:t>2. The Cost Function:</a:t>
            </a:r>
          </a:p>
          <a:p>
            <a:pPr>
              <a:spcAft>
                <a:spcPts val="1000"/>
              </a:spcAft>
              <a:defRPr sz="1600"/>
            </a:pPr>
            <a:r>
              <a:t>`Cost from Start Terminus` = $|0.0 - 0.0| = 0.0$</a:t>
            </a:r>
          </a:p>
          <a:p>
            <a:pPr>
              <a:spcAft>
                <a:spcPts val="1000"/>
              </a:spcAft>
              <a:defRPr sz="1600"/>
            </a:pPr>
            <a:r>
              <a:t>`Cost from End Terminus` = $|0.0 - 1.0| = 1.0$</a:t>
            </a:r>
          </a:p>
          <a:p>
            <a:pPr>
              <a:spcAft>
                <a:spcPts val="1000"/>
              </a:spcAft>
              <a:defRPr sz="1600"/>
            </a:pPr>
            <a:r>
              <a:t>3. Decision &amp; Action: The algorithm activates reserve bus KA-01-A-RSV-A stationed at the Start Terminus. The UI will explicitly render the badge `Cost: 0.00` underneath the bus, proving to operators that the AI is making the most geographically efficient decision possible.</a:t>
            </a:r>
          </a:p>
          <a:p>
            <a:pPr>
              <a:spcAft>
                <a:spcPts val="1000"/>
              </a:spcAft>
              <a:defRPr sz="1600"/>
            </a:pPr>
            <a:r>
              <a: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The Overwhelming Surge (Tiered Reserve Exhaustion)</a:t>
            </a:r>
          </a:p>
        </p:txBody>
      </p:sp>
      <p:sp>
        <p:nvSpPr>
          <p:cNvPr id="3" name="Content Placeholder 2"/>
          <p:cNvSpPr>
            <a:spLocks noGrp="1"/>
          </p:cNvSpPr>
          <p:nvPr>
            <p:ph idx="1"/>
          </p:nvPr>
        </p:nvSpPr>
        <p:spPr/>
        <p:txBody>
          <a:bodyPr/>
          <a:lstStyle/>
          <a:p/>
          <a:p>
            <a:pPr>
              <a:spcAft>
                <a:spcPts val="1000"/>
              </a:spcAft>
              <a:defRPr sz="1600"/>
            </a:pPr>
            <a:r>
              <a:t>Scenario Triggered: 80 passengers injected at Dairy Circle. 8 seconds later, another 60 passengers arrive.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Algorithmic Breakdown:</a:t>
            </a:r>
          </a:p>
        </p:txBody>
      </p:sp>
      <p:sp>
        <p:nvSpPr>
          <p:cNvPr id="3" name="Content Placeholder 2"/>
          <p:cNvSpPr>
            <a:spLocks noGrp="1"/>
          </p:cNvSpPr>
          <p:nvPr>
            <p:ph idx="1"/>
          </p:nvPr>
        </p:nvSpPr>
        <p:spPr/>
        <p:txBody>
          <a:bodyPr/>
          <a:lstStyle/>
          <a:p/>
          <a:p>
            <a:pPr>
              <a:spcAft>
                <a:spcPts val="1000"/>
              </a:spcAft>
              <a:defRPr sz="1600"/>
            </a:pPr>
            <a:r>
              <a:t>This scenario tests the engine's ability to handle sustained, cascading failure events where a single reserve bus is insufficient.</a:t>
            </a:r>
          </a:p>
          <a:p>
            <a:pPr>
              <a:spcAft>
                <a:spcPts val="1000"/>
              </a:spcAft>
              <a:defRPr sz="1600"/>
            </a:pPr>
            <a:r>
              <a:t>1. First Wave (80 pax): The engine triggers `Step 4: Express Overlay`. It calculates the Travel Cost, selects the End Terminus reserve (KA-01-A-RSV-B), and deploys it.</a:t>
            </a:r>
          </a:p>
          <a:p>
            <a:pPr>
              <a:spcAft>
                <a:spcPts val="1000"/>
              </a:spcAft>
              <a:defRPr sz="1600"/>
            </a:pPr>
            <a:r>
              <a:t>2. Second Wave (60 pax): 8 seconds later, the system detects that the demand *still* vastly exceeds the capacity of the active buses + the newly deployed reserve.</a:t>
            </a:r>
          </a:p>
          <a:p>
            <a:pPr>
              <a:spcAft>
                <a:spcPts val="1000"/>
              </a:spcAft>
              <a:defRPr sz="1600"/>
            </a:pPr>
            <a:r>
              <a:t>3. Exhaustion Fallback: The engine searches for another reserve at the End Terminus but finds none. It calculates the Travel Cost for the Start Terminus reserve (KA-01-A-RSV-A). Even though the Travel Cost is `1.0`, it is the only remaining route-matched reserve, so it is deployed.</a:t>
            </a:r>
          </a:p>
          <a:p>
            <a:pPr>
              <a:spcAft>
                <a:spcPts val="1000"/>
              </a:spcAft>
              <a:defRPr sz="1600"/>
            </a:pPr>
            <a:r>
              <a:t>4. Result: Both reserves are injected into the system in a staggered formation, preventing a catastrophic localized collapse.</a:t>
            </a:r>
          </a:p>
          <a:p>
            <a:pPr>
              <a:spcAft>
                <a:spcPts val="1000"/>
              </a:spcAft>
              <a:defRPr sz="1600"/>
            </a:pPr>
            <a:r>
              <a: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Reserves Broken / Cross-Route Steal (The "Doomsday" Edge Case)</a:t>
            </a:r>
          </a:p>
        </p:txBody>
      </p:sp>
      <p:sp>
        <p:nvSpPr>
          <p:cNvPr id="3" name="Content Placeholder 2"/>
          <p:cNvSpPr>
            <a:spLocks noGrp="1"/>
          </p:cNvSpPr>
          <p:nvPr>
            <p:ph idx="1"/>
          </p:nvPr>
        </p:nvSpPr>
        <p:spPr/>
        <p:txBody>
          <a:bodyPr/>
          <a:lstStyle/>
          <a:p/>
          <a:p>
            <a:pPr>
              <a:spcAft>
                <a:spcPts val="1000"/>
              </a:spcAft>
              <a:defRPr sz="1600"/>
            </a:pPr>
            <a:r>
              <a:t>Scenario Triggered: Every reserve bus in the city breaks down. A massive 90-passenger surge hits MG Road on Route 1.</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Algorithmic Breakdown:</a:t>
            </a:r>
          </a:p>
        </p:txBody>
      </p:sp>
      <p:sp>
        <p:nvSpPr>
          <p:cNvPr id="3" name="Content Placeholder 2"/>
          <p:cNvSpPr>
            <a:spLocks noGrp="1"/>
          </p:cNvSpPr>
          <p:nvPr>
            <p:ph idx="1"/>
          </p:nvPr>
        </p:nvSpPr>
        <p:spPr/>
        <p:txBody>
          <a:bodyPr/>
          <a:lstStyle/>
          <a:p/>
          <a:p>
            <a:pPr>
              <a:spcAft>
                <a:spcPts val="1000"/>
              </a:spcAft>
              <a:defRPr sz="1600"/>
            </a:pPr>
            <a:r>
              <a:t>This is the most complex edge case in the system. When `Step 4: Express Overlay` fails entirely (returning `null`), the engine escalates to `Step 5: Cross-Route Reallocation`. It must steal an active service bus from Route 2 or Route 3 to save Route 1, without destroying the other routes in the process.</a:t>
            </a:r>
          </a:p>
          <a:p>
            <a:pPr>
              <a:spcAft>
                <a:spcPts val="1000"/>
              </a:spcAft>
              <a:defRPr sz="1600"/>
            </a:pPr>
            <a:r>
              <a:t>The 5-Stage Validation Pipeline:</a:t>
            </a:r>
          </a:p>
          <a:p>
            <a:pPr>
              <a:spcAft>
                <a:spcPts val="1000"/>
              </a:spcAft>
              <a:defRPr sz="1600"/>
            </a:pPr>
            <a:r>
              <a:t>Before a bus is stolen, the AI scans every `IN_SERVICE` bus in the city and runs them through strict mathematical constraints:</a:t>
            </a:r>
          </a:p>
          <a:p>
            <a:pPr>
              <a:spcAft>
                <a:spcPts val="1000"/>
              </a:spcAft>
              <a:defRPr sz="1600"/>
            </a:pPr>
            <a:r>
              <a:t>1. Service Protection Check: "If I steal this bus from Route 2, will Route 2 drop below its minimum guaranteed frequency of 15 minutes?" If yes, reject.</a:t>
            </a:r>
          </a:p>
          <a:p>
            <a:pPr>
              <a:spcAft>
                <a:spcPts val="1000"/>
              </a:spcAft>
              <a:defRPr sz="1600"/>
            </a:pPr>
            <a:r>
              <a:t>2. Latent Cascade Check: "Are there crowds waiting down the line on Route 2 that this bus was supposed to pick up?" If yes, reject.</a:t>
            </a:r>
          </a:p>
          <a:p>
            <a:pPr>
              <a:spcAft>
                <a:spcPts val="1000"/>
              </a:spcAft>
              <a:defRPr sz="1600"/>
            </a:pPr>
            <a:r>
              <a:t>3. Orphaned Passenger Constraint: "Are there passengers currently sitting on this bus who will be stranded if I divert it to Route 1?" The system simulates the drop-offs. If passengers are stranded, reject.</a:t>
            </a:r>
          </a:p>
          <a:p>
            <a:pPr>
              <a:spcAft>
                <a:spcPts val="1000"/>
              </a:spcAft>
              <a:defRPr sz="1600"/>
            </a:pPr>
            <a:r>
              <a:t>4. Driver Shift Constraint: "Does the driver have enough time left in their shift to complete this detour?" If no, reject.</a:t>
            </a:r>
          </a:p>
          <a:p>
            <a:pPr>
              <a:spcAft>
                <a:spcPts val="1000"/>
              </a:spcAft>
              <a:defRPr sz="1600"/>
            </a:pPr>
            <a:r>
              <a:t>The Confidence Scoring Engine:</a:t>
            </a:r>
          </a:p>
          <a:p>
            <a:pPr>
              <a:spcAft>
                <a:spcPts val="1000"/>
              </a:spcAft>
              <a:defRPr sz="1600"/>
            </a:pPr>
            <a:r>
              <a:t>All buses that survive the constraints are scored:</a:t>
            </a:r>
          </a:p>
          <a:p>
            <a:pPr>
              <a:spcAft>
                <a:spcPts val="1000"/>
              </a:spcAft>
              <a:defRPr sz="1600"/>
            </a:pPr>
            <a:r>
              <a:t>$$Score = CurrentDemand \times ETA\_Confidence \times \left(\frac{1}{OccupancyPct + 0.1}\right)$$</a:t>
            </a:r>
          </a:p>
          <a:p>
            <a:pPr>
              <a:spcAft>
                <a:spcPts val="1000"/>
              </a:spcAft>
              <a:defRPr sz="1600"/>
            </a:pPr>
            <a:r>
              <a:t>*ETA Confidence:* Inversely proportional to travel time. A bus 2 minutes away scores much higher than a bus 15 minutes away.</a:t>
            </a:r>
          </a:p>
          <a:p>
            <a:pPr>
              <a:spcAft>
                <a:spcPts val="1000"/>
              </a:spcAft>
              <a:defRPr sz="1600"/>
            </a:pPr>
            <a:r>
              <a:t>*Occupancy:* Emptier buses score exponentially higher, as they provide more relief capacity.</a:t>
            </a:r>
          </a:p>
          <a:p>
            <a:pPr>
              <a:spcAft>
                <a:spcPts val="1000"/>
              </a:spcAft>
              <a:defRPr sz="1600"/>
            </a:pPr>
            <a:r>
              <a:t>Decision &amp; Action: The highest-scoring bus is issued a `REROUTE_RECOMMENDED` order. Once approved by the operator, the bus physically alters its trajectory, abandons its old route, and provides immediate relief to the overwhelming surge on Route 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